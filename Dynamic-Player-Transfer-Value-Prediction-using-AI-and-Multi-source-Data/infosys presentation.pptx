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BDFD6-DD3C-4712-9FDA-7B9CEC0D6A7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C35B2-D1B5-4147-82D0-8BA8ED465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93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EC35B2-D1B5-4147-82D0-8BA8ED46548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4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EC35B2-D1B5-4147-82D0-8BA8ED46548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341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EF56-7AA5-4A78-7887-07DE4C06E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374CC-94E8-C0BE-E70C-9519AC3D7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F2726-CDE8-9BC9-059B-00C5DE8D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651A5-1783-B17D-6AB1-3B287406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3D4C8-DA00-9AA6-78CD-289A8B6A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7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3A4F-BA6C-84C6-F304-39167B84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7CD64-4E78-D08D-8A89-DCFB8B3A3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3D840-042E-2F7D-2666-78C94B47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7742D-0EAA-2EC7-1596-0DD4F2CD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9D771-2F5B-DB78-2D30-A7A394DD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3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333E-E5CE-94CB-E4F1-DCEE8F00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C1F05-5310-3F41-3730-3A63DC311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314F3-5A54-21A4-7367-50A7FDF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38629-BB61-DC86-CE15-7CF4C3BA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E8C19-741D-15A9-5B34-11D7723A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85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193A-1F65-338D-03B4-F92D752EC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C61C-866D-BFDC-AB0A-590A6BB14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F4A83-374F-3DEC-EE1F-1CC96985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3F887-12CE-8066-2CC9-4C1C39EE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AE871-0808-A2A6-592A-CE2C6BFE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F99FE-DA82-9DD6-8599-C0FF2302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295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0E53-9CE8-7CF8-9517-F2DE5FC2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73604-F64C-94FA-7587-F1B895F3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B6D97-A392-B970-E073-0DF1D97BC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E4BDE-EE12-0493-1F48-4F9773175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8EE75-4DE0-3521-8FC8-9BD6E5DDF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9E05B-306A-CB77-0E69-C7E18435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E238E-0FB9-BB6E-AA8A-8A798F3CD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F1487-468D-F2B9-451F-D83E0D13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5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5B17-098E-CE48-EA29-DE6B2902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AF609-0DEF-FCEA-CDE2-052B19F2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45131-9A7E-86B7-EE04-84EB904C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30C6F-0B15-6944-1D16-1BA9672C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5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C3F57-C0AE-4B99-40A1-3BFF8CCB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7425B-7C86-284B-8CC6-4B938752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02AEE-D116-4BE8-C9F9-28543EB0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E048-3F60-AFC0-B509-1CD2517C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FAB8-E9EC-2293-87E7-4371F945D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9213F-7070-DE1A-47E3-DAF35E40E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5AA91-FA34-C3B3-6BA6-9CA55346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9BC24-3453-83D1-A7E9-39D5DDB5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501A0-18B2-6C5A-1724-21C478F6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D545-4E3D-1016-5AFB-8232E286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2B388-DC34-8EC8-9607-AFC6AEE8C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277F9-AD28-37D3-EDBB-88F1AA7ED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B9AD-C14F-2559-677B-7723EE42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260C9-D44F-3E5B-5A8A-A60312E1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932B6-283F-8D37-C762-7C38FD48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54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C16D-CC24-E17D-A498-0F67DD0E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DFA52-F815-7D48-702A-62EBB89D1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BAB2D-1497-9059-1610-3CC57F17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31009-9727-DAC4-F2AF-5FE9431F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DB84-B3A3-D0CB-A521-D72EBC62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9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22412-5F55-7CC3-AA67-E6133AF7B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8D37C-E738-E8FF-F9C5-9BFAE3E72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A0CAA-EDB7-8184-19B5-1ED6BD5E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E4AC8-06FD-A8A8-301C-B8F54804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0790-802A-09F6-0CEF-B293E5DE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37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545913-9465-6542-00D1-03F3BA61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E3347-1DB9-779C-01CC-746FC56D8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4F7C1-C7CC-53A2-25B3-E3A817CB8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4E5D2-0726-4906-9913-A1A21044F92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44AAE-933A-EA1E-5CB9-1FDAD38C6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8FA75-9E28-D509-8A2A-07AD469D0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79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tadium with a green field and blue seats&#10;&#10;AI-generated content may be incorrect.">
            <a:extLst>
              <a:ext uri="{FF2B5EF4-FFF2-40B4-BE49-F238E27FC236}">
                <a16:creationId xmlns:a16="http://schemas.microsoft.com/office/drawing/2014/main" id="{6B3C2B86-F570-03A7-D11F-FE9A68AD9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F4319C-8F78-B897-5665-1D5318EFC936}"/>
              </a:ext>
            </a:extLst>
          </p:cNvPr>
          <p:cNvSpPr txBox="1"/>
          <p:nvPr/>
        </p:nvSpPr>
        <p:spPr>
          <a:xfrm>
            <a:off x="1234201" y="506240"/>
            <a:ext cx="102277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Dynamic Player Transfer Value Prediction </a:t>
            </a:r>
          </a:p>
          <a:p>
            <a:pPr algn="ctr"/>
            <a:r>
              <a:rPr lang="en-US" sz="4400" dirty="0"/>
              <a:t>using AI and Multi-source Data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A7BD3-FCE9-C4E1-AEF6-63EB1DA776ED}"/>
              </a:ext>
            </a:extLst>
          </p:cNvPr>
          <p:cNvSpPr txBox="1"/>
          <p:nvPr/>
        </p:nvSpPr>
        <p:spPr>
          <a:xfrm>
            <a:off x="506896" y="4241817"/>
            <a:ext cx="2282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PRESENTED BY:</a:t>
            </a:r>
            <a:endParaRPr lang="en-IN" sz="2400" dirty="0">
              <a:highlight>
                <a:srgbClr val="C0C0C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33E3F-C5E1-C72D-1914-86A196CC0473}"/>
              </a:ext>
            </a:extLst>
          </p:cNvPr>
          <p:cNvSpPr txBox="1"/>
          <p:nvPr/>
        </p:nvSpPr>
        <p:spPr>
          <a:xfrm>
            <a:off x="-107397" y="2351782"/>
            <a:ext cx="12016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			    AN INFOSYS SPRINGBOARD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</a:rPr>
              <a:t> VIRTUAL INTERNSHIP 6.0 PROJECT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E8F8D-BD3F-F740-0C50-ACDB7898A568}"/>
              </a:ext>
            </a:extLst>
          </p:cNvPr>
          <p:cNvSpPr txBox="1"/>
          <p:nvPr/>
        </p:nvSpPr>
        <p:spPr>
          <a:xfrm>
            <a:off x="436558" y="4783869"/>
            <a:ext cx="323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FF00"/>
                </a:solidFill>
              </a:rPr>
              <a:t>NAME:CH NEELIMA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892BC-BEE6-1472-0C00-E8CCA6B7E313}"/>
              </a:ext>
            </a:extLst>
          </p:cNvPr>
          <p:cNvSpPr txBox="1"/>
          <p:nvPr/>
        </p:nvSpPr>
        <p:spPr>
          <a:xfrm>
            <a:off x="482561" y="5307089"/>
            <a:ext cx="2330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PRESENTED TO:</a:t>
            </a:r>
            <a:endParaRPr lang="en-IN" sz="2400" dirty="0"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E2303-A564-7F71-5DA3-FBEBF34D6B7C}"/>
              </a:ext>
            </a:extLst>
          </p:cNvPr>
          <p:cNvSpPr txBox="1"/>
          <p:nvPr/>
        </p:nvSpPr>
        <p:spPr>
          <a:xfrm>
            <a:off x="436558" y="5890095"/>
            <a:ext cx="3817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Infosys Springboard Mentor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3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C351F-F8CB-9715-EBBF-53F18C011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CB67F1-0D54-E5E2-C741-AA34708204AB}"/>
              </a:ext>
            </a:extLst>
          </p:cNvPr>
          <p:cNvSpPr txBox="1"/>
          <p:nvPr/>
        </p:nvSpPr>
        <p:spPr>
          <a:xfrm>
            <a:off x="5279208" y="241051"/>
            <a:ext cx="6548357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Problem Statement:</a:t>
            </a:r>
          </a:p>
          <a:p>
            <a:endParaRPr lang="en-US" sz="3200" dirty="0">
              <a:solidFill>
                <a:srgbClr val="FFFF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High and growing spending in football transfer markets.​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Subjective, intuition-based player valuations with limited transparency.​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Multiple hidden factors influence value: performance, injuries, sentiment, market trends.​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Need for a unified, data-driven AI model to estimate realistic transfer values.</a:t>
            </a:r>
          </a:p>
        </p:txBody>
      </p:sp>
    </p:spTree>
    <p:extLst>
      <p:ext uri="{BB962C8B-B14F-4D97-AF65-F5344CB8AC3E}">
        <p14:creationId xmlns:p14="http://schemas.microsoft.com/office/powerpoint/2010/main" val="1886631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9D009E-003B-024A-5335-0FE7FEC88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D5C7C0-A49B-DA05-D843-A31909246D35}"/>
              </a:ext>
            </a:extLst>
          </p:cNvPr>
          <p:cNvSpPr txBox="1"/>
          <p:nvPr/>
        </p:nvSpPr>
        <p:spPr>
          <a:xfrm>
            <a:off x="4711147" y="0"/>
            <a:ext cx="732051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Project Objectives: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Accurate AI-based transfer value prediction to support club decision-making.​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Multi-source data integration: performance stats, injury history, social media sentiment, market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Time-series forecasting using LSTM (univariate and multivariate) for value trends.​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Simple, intuitive web dashboard to view player-wise actual vs predicted values.</a:t>
            </a:r>
          </a:p>
        </p:txBody>
      </p:sp>
    </p:spTree>
    <p:extLst>
      <p:ext uri="{BB962C8B-B14F-4D97-AF65-F5344CB8AC3E}">
        <p14:creationId xmlns:p14="http://schemas.microsoft.com/office/powerpoint/2010/main" val="291327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ootball player kicking a ball&#10;&#10;AI-generated content may be incorrect.">
            <a:extLst>
              <a:ext uri="{FF2B5EF4-FFF2-40B4-BE49-F238E27FC236}">
                <a16:creationId xmlns:a16="http://schemas.microsoft.com/office/drawing/2014/main" id="{0CF1A583-9232-6072-1757-EC01263DB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086" y="0"/>
            <a:ext cx="3833384" cy="6708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616AEA-EDAA-DA91-A844-2470433ED467}"/>
              </a:ext>
            </a:extLst>
          </p:cNvPr>
          <p:cNvSpPr txBox="1"/>
          <p:nvPr/>
        </p:nvSpPr>
        <p:spPr>
          <a:xfrm>
            <a:off x="616226" y="428178"/>
            <a:ext cx="730526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Data Sources Used:</a:t>
            </a:r>
          </a:p>
          <a:p>
            <a:endParaRPr lang="en-US" sz="3200" b="1" dirty="0">
              <a:highlight>
                <a:srgbClr val="FFFF00"/>
              </a:highlight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Player statistics and performance metrics: matches played, goals, assists, minutes.​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Injury history and records: major injuries and days injured last season.​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Sentiment data: fan and media sentiment scores derived from social media analysis.​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Market trends and past transfer values from historical market value data.</a:t>
            </a:r>
          </a:p>
        </p:txBody>
      </p:sp>
    </p:spTree>
    <p:extLst>
      <p:ext uri="{BB962C8B-B14F-4D97-AF65-F5344CB8AC3E}">
        <p14:creationId xmlns:p14="http://schemas.microsoft.com/office/powerpoint/2010/main" val="311783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C6F9B1-6651-D266-B623-3DBCBF86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128D90-CB8E-9229-6790-74F5D5429565}"/>
              </a:ext>
            </a:extLst>
          </p:cNvPr>
          <p:cNvSpPr txBox="1"/>
          <p:nvPr/>
        </p:nvSpPr>
        <p:spPr>
          <a:xfrm>
            <a:off x="1102916" y="930536"/>
            <a:ext cx="103668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			System Architecture</a:t>
            </a:r>
          </a:p>
          <a:p>
            <a:endParaRPr lang="en-IN" sz="3200" b="1" dirty="0">
              <a:solidFill>
                <a:srgbClr val="FFFF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Data collection and preprocessing: merge multi-source datasets, clean, handle missing and duplicate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Feature engineering and model training: create goals per 90, assists per 90, injury risk score, sentiment features; train LSTM and ensemble models.​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Model evaluation and UI integration: evaluate with RMSE, MAE, R² and expose final predictions through a web UI.​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89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D95BB-6198-BDF4-10DA-D85568D0B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AC75F4-C370-AD8A-9B3E-6B195B06707E}"/>
              </a:ext>
            </a:extLst>
          </p:cNvPr>
          <p:cNvSpPr txBox="1"/>
          <p:nvPr/>
        </p:nvSpPr>
        <p:spPr>
          <a:xfrm>
            <a:off x="576470" y="363915"/>
            <a:ext cx="1034663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Data Preprocessing: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Handling missing and duplicate data to ensure accurate and reliable training input.​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Feature scaling and normalization to improve model stability and convergence.​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Deriving advanced features such as goal contributions per 90 and injury risk scores.​</a:t>
            </a:r>
          </a:p>
          <a:p>
            <a:r>
              <a:rPr lang="en-US" sz="3200" b="1" dirty="0">
                <a:solidFill>
                  <a:srgbClr val="FFFF00"/>
                </a:solidFill>
              </a:rPr>
              <a:t>Models Used: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LSTM models (univariate and multivariate) for time-series forecasting of market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Gradient Boosting / </a:t>
            </a:r>
            <a:r>
              <a:rPr lang="en-US" sz="3200" dirty="0" err="1">
                <a:solidFill>
                  <a:schemeClr val="bg1"/>
                </a:solidFill>
              </a:rPr>
              <a:t>XGBoost</a:t>
            </a:r>
            <a:r>
              <a:rPr lang="en-US" sz="3200" dirty="0">
                <a:solidFill>
                  <a:schemeClr val="bg1"/>
                </a:solidFill>
              </a:rPr>
              <a:t> ensemble on engineered features for final transfer value prediction.​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5584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1DBEF9-EB1A-ACCB-7D2B-9322FA054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795E83-F292-0DA9-D82F-9F4D73578E94}"/>
              </a:ext>
            </a:extLst>
          </p:cNvPr>
          <p:cNvSpPr txBox="1"/>
          <p:nvPr/>
        </p:nvSpPr>
        <p:spPr>
          <a:xfrm>
            <a:off x="761052" y="363915"/>
            <a:ext cx="9645217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Model Performance: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Evaluation metrics: RMSE, MAE, and R² score used for assessing model accuracy.​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Final tuned model achieves very low RMSE and MAE with R² ≈ 1.0 on the constructed dataset.​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Predictions closely match actual market values for players like Messi, Ronaldo, Mbappé, Haaland, etc.​</a:t>
            </a:r>
          </a:p>
          <a:p>
            <a:r>
              <a:rPr lang="en-IN" sz="3200" b="1" dirty="0">
                <a:solidFill>
                  <a:srgbClr val="FFFF00"/>
                </a:solidFill>
              </a:rPr>
              <a:t>Final Output: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Web UI displays player name, actual market value, predicted transfer value, and prediction error.​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Enables quick comparison and clear understanding of AI-based valuations for each player.​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1540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58F0B-6FBA-765A-D86C-46C8076F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90993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9EB79B-582C-FC15-30C2-A4016FCABD3F}"/>
              </a:ext>
            </a:extLst>
          </p:cNvPr>
          <p:cNvSpPr txBox="1"/>
          <p:nvPr/>
        </p:nvSpPr>
        <p:spPr>
          <a:xfrm>
            <a:off x="4909930" y="0"/>
            <a:ext cx="728207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Conclusion:</a:t>
            </a:r>
          </a:p>
          <a:p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Built an end-to-end AI pipeline: data collection, preprocessing, LSTM + ensemble modeling, and interactive UI.​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Multi-source AI integration improves transparency and consistency in player transfer value estimation.​</a:t>
            </a:r>
          </a:p>
          <a:p>
            <a:r>
              <a:rPr lang="en-US" sz="2800" dirty="0">
                <a:solidFill>
                  <a:srgbClr val="00B050"/>
                </a:solidFill>
              </a:rPr>
              <a:t>Future Scope:</a:t>
            </a:r>
          </a:p>
          <a:p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Extend to larger real-world datasets with live APIs and real-time news integration.​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Incorporate more advanced deep learning models and explainability tools (e.g., feature importance, SHAP).​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49127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350B0-D7AE-0F00-622B-B943AD2F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6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infosys presentation</Template>
  <TotalTime>6</TotalTime>
  <Words>531</Words>
  <Application>Microsoft Office PowerPoint</Application>
  <PresentationFormat>Widescreen</PresentationFormat>
  <Paragraphs>54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Nivetha V</dc:creator>
  <cp:lastModifiedBy>neelima yadav</cp:lastModifiedBy>
  <cp:revision>2</cp:revision>
  <dcterms:created xsi:type="dcterms:W3CDTF">2025-12-05T09:22:11Z</dcterms:created>
  <dcterms:modified xsi:type="dcterms:W3CDTF">2026-04-01T13:43:44Z</dcterms:modified>
</cp:coreProperties>
</file>