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F81F7">
              <a:alpha val="40000"/>
            </a:srgbClr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548640"/>
            <a:ext cx="731520" cy="731520"/>
          </a:xfrm>
          <a:prstGeom prst="rect">
            <a:avLst/>
          </a:prstGeom>
          <a:solidFill>
            <a:srgbClr val="2F81F7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2920" y="548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TQ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1371600" y="50292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TransferIQ</a:t>
            </a:r>
            <a:endParaRPr lang="en-US" sz="4200" dirty="0"/>
          </a:p>
        </p:txBody>
      </p:sp>
      <p:sp>
        <p:nvSpPr>
          <p:cNvPr id="52" name="Text 50"/>
          <p:cNvSpPr/>
          <p:nvPr/>
        </p:nvSpPr>
        <p:spPr>
          <a:xfrm>
            <a:off x="137160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Player Transfer Value Prediction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371600" y="1645920"/>
            <a:ext cx="6400800" cy="18288"/>
          </a:xfrm>
          <a:prstGeom prst="rect">
            <a:avLst/>
          </a:prstGeom>
          <a:solidFill>
            <a:srgbClr val="1E4A8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0" y="178308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prediction model using multi-source data — player performance statistics, social media sentiment, injury history, and historical market trends.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LSTM (NumPy), Gradient Boosting, Random Forest, and Weighted Ensemble.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371600" y="3246120"/>
            <a:ext cx="1554480" cy="8229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371600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1,034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1371600" y="3749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063240" y="3246120"/>
            <a:ext cx="1554480" cy="8229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3063240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3063240" y="3749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54880" y="3246120"/>
            <a:ext cx="1554480" cy="8229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754880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0.495</a:t>
            </a:r>
            <a:endParaRPr lang="en-US" sz="2800" dirty="0"/>
          </a:p>
        </p:txBody>
      </p:sp>
      <p:sp>
        <p:nvSpPr>
          <p:cNvPr id="63" name="Text 61"/>
          <p:cNvSpPr/>
          <p:nvPr/>
        </p:nvSpPr>
        <p:spPr>
          <a:xfrm>
            <a:off x="4754880" y="3749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R²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46520" y="3246120"/>
            <a:ext cx="1554480" cy="8229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446520" y="33558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Weeks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46520" y="37490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Project  ·  Machine Learning &amp; Sports Analytics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47472"/>
            <a:ext cx="36576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457200" y="960120"/>
            <a:ext cx="3931920" cy="141732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1069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Data Collection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0080" y="1417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sources: StatsBomb performance stats, Transfermarkt market values, Twitter/NLP sentiment, injury records for 1,034 players (2009–2021)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63440" y="960120"/>
            <a:ext cx="3931920" cy="141732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46320" y="10698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Feature Engineering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846320" y="14173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features engineered: age curve, performance indices, injury risk score, sentiment impact, position encoding, contract value proxy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2606040"/>
            <a:ext cx="3931920" cy="141732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0080" y="2715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ML Models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4008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from scratch (NumPy BPTT), Gradient Boosting, Random Forest, Ridge Regression — combined into a Weighted Ensemble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63440" y="2606040"/>
            <a:ext cx="3931920" cy="141732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846320" y="2715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Web Application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846320" y="3063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backend serving the pkl model via REST API, interactive predictor with all inputs, player explorer with filters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47472"/>
            <a:ext cx="36576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Sources &amp; Feature Engineering</a:t>
            </a:r>
            <a:endParaRPr lang="en-US" sz="2600" dirty="0"/>
          </a:p>
        </p:txBody>
      </p:sp>
      <p:sp>
        <p:nvSpPr>
          <p:cNvPr id="49" name="Shape 47"/>
          <p:cNvSpPr/>
          <p:nvPr/>
        </p:nvSpPr>
        <p:spPr>
          <a:xfrm>
            <a:off x="457200" y="914400"/>
            <a:ext cx="3931920" cy="35661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40080" y="1417320"/>
            <a:ext cx="54864" cy="5029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1417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StatsBomb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77240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1,034 players · FIFA performance stats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2167128"/>
            <a:ext cx="54864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2167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Transfermarkt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7240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6,043 records · 2009–2021 market values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" y="2916936"/>
            <a:ext cx="54864" cy="5029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7240" y="2916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NLP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77240" y="3163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1,069 records · VADER scores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40080" y="3666744"/>
            <a:ext cx="54864" cy="50292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7240" y="3666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History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777240" y="3913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9,553 records · days &amp; games missed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663440" y="914400"/>
            <a:ext cx="3931920" cy="35661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84632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Features (44 used in model)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800600" y="1417320"/>
            <a:ext cx="3611880" cy="566928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937760" y="14538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Features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937760" y="1691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age_peak_diff, is_peak_age, potential_score, career_stage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800600" y="2057400"/>
            <a:ext cx="3611880" cy="566928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937760" y="20939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4937760" y="2331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physical_index, technical_index, performance_score, OVA_norm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800600" y="2697480"/>
            <a:ext cx="3611880" cy="566928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937760" y="2734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937760" y="2971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injury_risk_category, availability_score, total_days_missed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800600" y="3337560"/>
            <a:ext cx="3611880" cy="566928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937760" y="33741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937760" y="3611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avg_sentiment, sentiment_performance_index, sentiment_label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800600" y="3977640"/>
            <a:ext cx="3611880" cy="566928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4937760" y="40142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937760" y="4251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avg_growth_rate, value_volatility, num_seasons, contract_proxy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47472"/>
            <a:ext cx="36576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Architecture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365760" y="1005840"/>
            <a:ext cx="1463040" cy="1371600"/>
          </a:xfrm>
          <a:prstGeom prst="rect">
            <a:avLst/>
          </a:prstGeom>
          <a:solidFill>
            <a:srgbClr val="1E4A8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10058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828800" y="1691640"/>
            <a:ext cx="502920" cy="0"/>
          </a:xfrm>
          <a:prstGeom prst="line">
            <a:avLst/>
          </a:prstGeom>
          <a:noFill/>
          <a:ln w="19050">
            <a:solidFill>
              <a:srgbClr val="7D85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40280" y="15727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965960" y="1005840"/>
            <a:ext cx="1463040" cy="1371600"/>
          </a:xfrm>
          <a:prstGeom prst="rect">
            <a:avLst/>
          </a:prstGeom>
          <a:solidFill>
            <a:srgbClr val="0D4F3C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65960" y="10058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429000" y="1691640"/>
            <a:ext cx="502920" cy="0"/>
          </a:xfrm>
          <a:prstGeom prst="line">
            <a:avLst/>
          </a:prstGeom>
          <a:noFill/>
          <a:ln w="19050">
            <a:solidFill>
              <a:srgbClr val="7D85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0" y="15727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566160" y="1005840"/>
            <a:ext cx="1463040" cy="1371600"/>
          </a:xfrm>
          <a:prstGeom prst="rect">
            <a:avLst/>
          </a:prstGeom>
          <a:solidFill>
            <a:srgbClr val="4A3000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10058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029200" y="1691640"/>
            <a:ext cx="502920" cy="0"/>
          </a:xfrm>
          <a:prstGeom prst="line">
            <a:avLst/>
          </a:prstGeom>
          <a:noFill/>
          <a:ln w="19050">
            <a:solidFill>
              <a:srgbClr val="7D85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40680" y="15727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66360" y="1005840"/>
            <a:ext cx="1463040" cy="1371600"/>
          </a:xfrm>
          <a:prstGeom prst="rect">
            <a:avLst/>
          </a:prstGeom>
          <a:solidFill>
            <a:srgbClr val="3D0D6E"/>
          </a:solidFill>
          <a:ln w="12700">
            <a:solidFill>
              <a:srgbClr val="A371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66360" y="10058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37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629400" y="1691640"/>
            <a:ext cx="502920" cy="0"/>
          </a:xfrm>
          <a:prstGeom prst="line">
            <a:avLst/>
          </a:prstGeom>
          <a:noFill/>
          <a:ln w="19050">
            <a:solidFill>
              <a:srgbClr val="7D85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40880" y="15727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766560" y="1005840"/>
            <a:ext cx="1463040" cy="1371600"/>
          </a:xfrm>
          <a:prstGeom prst="rect">
            <a:avLst/>
          </a:prstGeom>
          <a:solidFill>
            <a:srgbClr val="3D1200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66560" y="10058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65760" y="2514600"/>
            <a:ext cx="1463040" cy="141732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38912" y="2587752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Stats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Values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Data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965960" y="2514600"/>
            <a:ext cx="1463040" cy="141732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2039112" y="2587752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features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curve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risk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566160" y="2514600"/>
            <a:ext cx="1463040" cy="141732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639312" y="2587752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BPTT Training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scratch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166360" y="2514600"/>
            <a:ext cx="1463040" cy="141732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239512" y="2587752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Grad. Boosting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766560" y="2514600"/>
            <a:ext cx="1463040" cy="141732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6839712" y="2587752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Transfer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R²=0.495</a:t>
            </a:r>
            <a:endParaRPr lang="en-US" sz="9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PKL model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Ensemble combines RF + GB + Ridge weighted by individual R² scores → best overall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47472"/>
            <a:ext cx="36576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Importance Analysis</a:t>
            </a:r>
            <a:endParaRPr lang="en-US" sz="2800" dirty="0"/>
          </a:p>
        </p:txBody>
      </p:sp>
      <p:pic>
        <p:nvPicPr>
          <p:cNvPr id="49" name="Image 0" descr="/home/claude/viz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29184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5943600" y="914400"/>
            <a:ext cx="2926080" cy="329184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6126480" y="1024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6080760" y="1417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40.8%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672084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Score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720840" y="1664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player future value dominates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080760" y="20116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4.1%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6720840" y="2011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Value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6720840" y="22585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contracts = higher market value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6080760" y="2606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3.4%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6720840" y="2606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Perf.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6720840" y="2852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Injury-adjusted stats matter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080760" y="3200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3.2%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672084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Peak Diff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6720840" y="34472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age 23-28 boosts value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6080760" y="3794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71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2.2%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67208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672084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value trend signal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47472"/>
            <a:ext cx="36576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Results</a:t>
            </a:r>
            <a:endParaRPr lang="en-US" sz="2800" dirty="0"/>
          </a:p>
        </p:txBody>
      </p:sp>
      <p:pic>
        <p:nvPicPr>
          <p:cNvPr id="49" name="Image 0" descr="/home/claude/viz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2834640"/>
          </a:xfrm>
          <a:prstGeom prst="rect">
            <a:avLst/>
          </a:prstGeom>
        </p:spPr>
      </p:pic>
      <p:sp>
        <p:nvSpPr>
          <p:cNvPr id="50" name="Shape 47"/>
          <p:cNvSpPr/>
          <p:nvPr/>
        </p:nvSpPr>
        <p:spPr>
          <a:xfrm>
            <a:off x="365760" y="3840480"/>
            <a:ext cx="2926080" cy="228600"/>
          </a:xfrm>
          <a:prstGeom prst="rect">
            <a:avLst/>
          </a:prstGeom>
          <a:solidFill>
            <a:srgbClr val="2F81F7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420624" y="385876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3337560" y="3840480"/>
            <a:ext cx="1188720" cy="228600"/>
          </a:xfrm>
          <a:prstGeom prst="rect">
            <a:avLst/>
          </a:prstGeom>
          <a:solidFill>
            <a:srgbClr val="2F81F7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3392424" y="3858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572000" y="3840480"/>
            <a:ext cx="1188720" cy="228600"/>
          </a:xfrm>
          <a:prstGeom prst="rect">
            <a:avLst/>
          </a:prstGeom>
          <a:solidFill>
            <a:srgbClr val="2F81F7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4626864" y="3858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5806440" y="3840480"/>
            <a:ext cx="1188720" cy="228600"/>
          </a:xfrm>
          <a:prstGeom prst="rect">
            <a:avLst/>
          </a:prstGeom>
          <a:solidFill>
            <a:srgbClr val="2F81F7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5861304" y="385876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7040880" y="3840480"/>
            <a:ext cx="822960" cy="228600"/>
          </a:xfrm>
          <a:prstGeom prst="rect">
            <a:avLst/>
          </a:prstGeom>
          <a:solidFill>
            <a:srgbClr val="2F81F7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7095744" y="38587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365760" y="4087368"/>
            <a:ext cx="292608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1" name="Text 58"/>
          <p:cNvSpPr/>
          <p:nvPr/>
        </p:nvSpPr>
        <p:spPr>
          <a:xfrm>
            <a:off x="420624" y="41056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LSTM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337560" y="4087368"/>
            <a:ext cx="118872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3392424" y="410565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1.308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4572000" y="4087368"/>
            <a:ext cx="118872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4626864" y="410565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1.036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5806440" y="4087368"/>
            <a:ext cx="118872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5861304" y="410565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0.160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7040880" y="4087368"/>
            <a:ext cx="82296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9" name="Text 66"/>
          <p:cNvSpPr/>
          <p:nvPr/>
        </p:nvSpPr>
        <p:spPr>
          <a:xfrm>
            <a:off x="7095744" y="410565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365760" y="4334256"/>
            <a:ext cx="2926080" cy="22860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1" name="Text 68"/>
          <p:cNvSpPr/>
          <p:nvPr/>
        </p:nvSpPr>
        <p:spPr>
          <a:xfrm>
            <a:off x="420624" y="4352544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3337560" y="4334256"/>
            <a:ext cx="1188720" cy="22860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3" name="Text 70"/>
          <p:cNvSpPr/>
          <p:nvPr/>
        </p:nvSpPr>
        <p:spPr>
          <a:xfrm>
            <a:off x="3392424" y="435254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0.877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4572000" y="4334256"/>
            <a:ext cx="1188720" cy="22860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5" name="Text 72"/>
          <p:cNvSpPr/>
          <p:nvPr/>
        </p:nvSpPr>
        <p:spPr>
          <a:xfrm>
            <a:off x="4626864" y="435254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0.531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5806440" y="4334256"/>
            <a:ext cx="1188720" cy="22860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7" name="Text 74"/>
          <p:cNvSpPr/>
          <p:nvPr/>
        </p:nvSpPr>
        <p:spPr>
          <a:xfrm>
            <a:off x="5861304" y="4352544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0.623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7040880" y="4334256"/>
            <a:ext cx="822960" cy="22860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9" name="Text 76"/>
          <p:cNvSpPr/>
          <p:nvPr/>
        </p:nvSpPr>
        <p:spPr>
          <a:xfrm>
            <a:off x="7095744" y="435254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80" name="Shape 77"/>
          <p:cNvSpPr/>
          <p:nvPr/>
        </p:nvSpPr>
        <p:spPr>
          <a:xfrm>
            <a:off x="365760" y="4581144"/>
            <a:ext cx="292608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1" name="Text 78"/>
          <p:cNvSpPr/>
          <p:nvPr/>
        </p:nvSpPr>
        <p:spPr>
          <a:xfrm>
            <a:off x="420624" y="45994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3337560" y="4581144"/>
            <a:ext cx="118872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3" name="Text 80"/>
          <p:cNvSpPr/>
          <p:nvPr/>
        </p:nvSpPr>
        <p:spPr>
          <a:xfrm>
            <a:off x="3392424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1.065</a:t>
            </a:r>
            <a:endParaRPr lang="en-US" sz="950" dirty="0"/>
          </a:p>
        </p:txBody>
      </p:sp>
      <p:sp>
        <p:nvSpPr>
          <p:cNvPr id="84" name="Shape 81"/>
          <p:cNvSpPr/>
          <p:nvPr/>
        </p:nvSpPr>
        <p:spPr>
          <a:xfrm>
            <a:off x="4572000" y="4581144"/>
            <a:ext cx="118872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5" name="Text 82"/>
          <p:cNvSpPr/>
          <p:nvPr/>
        </p:nvSpPr>
        <p:spPr>
          <a:xfrm>
            <a:off x="4626864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0.789</a:t>
            </a:r>
            <a:endParaRPr lang="en-US" sz="950" dirty="0"/>
          </a:p>
        </p:txBody>
      </p:sp>
      <p:sp>
        <p:nvSpPr>
          <p:cNvPr id="86" name="Shape 83"/>
          <p:cNvSpPr/>
          <p:nvPr/>
        </p:nvSpPr>
        <p:spPr>
          <a:xfrm>
            <a:off x="5806440" y="4581144"/>
            <a:ext cx="118872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7" name="Text 84"/>
          <p:cNvSpPr/>
          <p:nvPr/>
        </p:nvSpPr>
        <p:spPr>
          <a:xfrm>
            <a:off x="5861304" y="459943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0.484</a:t>
            </a:r>
            <a:endParaRPr lang="en-US" sz="950" dirty="0"/>
          </a:p>
        </p:txBody>
      </p:sp>
      <p:sp>
        <p:nvSpPr>
          <p:cNvPr id="88" name="Shape 85"/>
          <p:cNvSpPr/>
          <p:nvPr/>
        </p:nvSpPr>
        <p:spPr>
          <a:xfrm>
            <a:off x="7040880" y="4581144"/>
            <a:ext cx="822960" cy="228600"/>
          </a:xfrm>
          <a:prstGeom prst="rect">
            <a:avLst/>
          </a:prstGeom>
          <a:solidFill>
            <a:srgbClr val="131D2E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9" name="Text 86"/>
          <p:cNvSpPr/>
          <p:nvPr/>
        </p:nvSpPr>
        <p:spPr>
          <a:xfrm>
            <a:off x="7095744" y="459943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365760" y="4828032"/>
            <a:ext cx="2926080" cy="228600"/>
          </a:xfrm>
          <a:prstGeom prst="rect">
            <a:avLst/>
          </a:prstGeom>
          <a:solidFill>
            <a:srgbClr val="0D40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1" name="Text 88"/>
          <p:cNvSpPr/>
          <p:nvPr/>
        </p:nvSpPr>
        <p:spPr>
          <a:xfrm>
            <a:off x="420624" y="484632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Ensemble ✓</a:t>
            </a:r>
            <a:endParaRPr lang="en-US" sz="950" dirty="0"/>
          </a:p>
        </p:txBody>
      </p:sp>
      <p:sp>
        <p:nvSpPr>
          <p:cNvPr id="92" name="Shape 89"/>
          <p:cNvSpPr/>
          <p:nvPr/>
        </p:nvSpPr>
        <p:spPr>
          <a:xfrm>
            <a:off x="3337560" y="4828032"/>
            <a:ext cx="1188720" cy="228600"/>
          </a:xfrm>
          <a:prstGeom prst="rect">
            <a:avLst/>
          </a:prstGeom>
          <a:solidFill>
            <a:srgbClr val="0D40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3" name="Text 90"/>
          <p:cNvSpPr/>
          <p:nvPr/>
        </p:nvSpPr>
        <p:spPr>
          <a:xfrm>
            <a:off x="3392424" y="48463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1.053</a:t>
            </a:r>
            <a:endParaRPr lang="en-US" sz="950" dirty="0"/>
          </a:p>
        </p:txBody>
      </p:sp>
      <p:sp>
        <p:nvSpPr>
          <p:cNvPr id="94" name="Shape 91"/>
          <p:cNvSpPr/>
          <p:nvPr/>
        </p:nvSpPr>
        <p:spPr>
          <a:xfrm>
            <a:off x="4572000" y="4828032"/>
            <a:ext cx="1188720" cy="228600"/>
          </a:xfrm>
          <a:prstGeom prst="rect">
            <a:avLst/>
          </a:prstGeom>
          <a:solidFill>
            <a:srgbClr val="0D40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5" name="Text 92"/>
          <p:cNvSpPr/>
          <p:nvPr/>
        </p:nvSpPr>
        <p:spPr>
          <a:xfrm>
            <a:off x="4626864" y="48463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0.776</a:t>
            </a:r>
            <a:endParaRPr lang="en-US" sz="950" dirty="0"/>
          </a:p>
        </p:txBody>
      </p:sp>
      <p:sp>
        <p:nvSpPr>
          <p:cNvPr id="96" name="Shape 93"/>
          <p:cNvSpPr/>
          <p:nvPr/>
        </p:nvSpPr>
        <p:spPr>
          <a:xfrm>
            <a:off x="5806440" y="4828032"/>
            <a:ext cx="1188720" cy="228600"/>
          </a:xfrm>
          <a:prstGeom prst="rect">
            <a:avLst/>
          </a:prstGeom>
          <a:solidFill>
            <a:srgbClr val="0D40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7" name="Text 94"/>
          <p:cNvSpPr/>
          <p:nvPr/>
        </p:nvSpPr>
        <p:spPr>
          <a:xfrm>
            <a:off x="5861304" y="484632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0.495</a:t>
            </a:r>
            <a:endParaRPr lang="en-US" sz="950" dirty="0"/>
          </a:p>
        </p:txBody>
      </p:sp>
      <p:sp>
        <p:nvSpPr>
          <p:cNvPr id="98" name="Shape 95"/>
          <p:cNvSpPr/>
          <p:nvPr/>
        </p:nvSpPr>
        <p:spPr>
          <a:xfrm>
            <a:off x="7040880" y="4828032"/>
            <a:ext cx="822960" cy="228600"/>
          </a:xfrm>
          <a:prstGeom prst="rect">
            <a:avLst/>
          </a:prstGeom>
          <a:solidFill>
            <a:srgbClr val="0D40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9" name="Text 96"/>
          <p:cNvSpPr/>
          <p:nvPr/>
        </p:nvSpPr>
        <p:spPr>
          <a:xfrm>
            <a:off x="7095744" y="484632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47472"/>
            <a:ext cx="36576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Data Insights</a:t>
            </a:r>
            <a:endParaRPr lang="en-US" sz="2800" dirty="0"/>
          </a:p>
        </p:txBody>
      </p:sp>
      <p:pic>
        <p:nvPicPr>
          <p:cNvPr id="49" name="Image 0" descr="/home/claude/viz/age_vs_va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029200" cy="3017520"/>
          </a:xfrm>
          <a:prstGeom prst="rect">
            <a:avLst/>
          </a:prstGeom>
        </p:spPr>
      </p:pic>
      <p:pic>
        <p:nvPicPr>
          <p:cNvPr id="50" name="Image 1" descr="/home/claude/viz/sentiment_i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868680"/>
            <a:ext cx="3429000" cy="2103120"/>
          </a:xfrm>
          <a:prstGeom prst="rect">
            <a:avLst/>
          </a:prstGeom>
        </p:spPr>
      </p:pic>
      <p:pic>
        <p:nvPicPr>
          <p:cNvPr id="51" name="Image 2" descr="/home/claude/viz/value_by_posi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063240"/>
            <a:ext cx="3429000" cy="178308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274320" y="40233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aged 23–28 command peak market values · Positive sentiment adds ~18% premium · Forwards valued highest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47472"/>
            <a:ext cx="36576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Application — Flask + PKL Integration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457200" y="960120"/>
            <a:ext cx="3977640" cy="15087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" y="960120"/>
            <a:ext cx="3977640" cy="73152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1069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1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Player Explorer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9436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all 1,034 players with filters by position, career stage, injury risk and sentiment. Sort by AI predicted value, OVA, age or performance.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63440" y="960120"/>
            <a:ext cx="3977640" cy="15087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960120"/>
            <a:ext cx="397764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1069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Live Predictor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800600" y="14173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Age, OVA, Performance, Potential, Position, Injury Risk, Sentiment and Contract Years → pkl model derives all 44 features and returns real-time prediction.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2624328"/>
            <a:ext cx="3977640" cy="15087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57200" y="2624328"/>
            <a:ext cx="397764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" y="2734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REST API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94360" y="30815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/api/predict (POST), /api/players (GET with filters), /api/stats. Weighted Ensemble pkl loaded at startup, predictions served in milliseconds.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663440" y="2624328"/>
            <a:ext cx="3977640" cy="15087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2624328"/>
            <a:ext cx="3977640" cy="731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2734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Model Breakdown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800600" y="308152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prediction shows individual RF, GB and Ridge outputs with their respective weights, plus feature insights (age factor, injury impact, sentiment effect).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224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224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128016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228600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329184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4297680"/>
            <a:ext cx="36576" cy="36576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47472"/>
            <a:ext cx="36576" cy="502920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457200" y="960120"/>
            <a:ext cx="3931920" cy="388620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0080" y="1051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40080" y="146304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score (40.8%) most important — young player future value drives market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40080" y="196596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1248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Ensemble outperforms all individual models (R²=0.495)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40080" y="246888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has 1.6% impact — positive buzz = higher transfer value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0080" y="297180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1248" y="2926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Injury-adjusted performance captures real availability risk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40080" y="347472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" y="3429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age zone (23-28) commands highest premiums across positions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0080" y="397764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needs more temporal data — 975 sequences is limited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663440" y="960120"/>
            <a:ext cx="3931920" cy="388620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846320" y="1051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4846320" y="146304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7488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real-time Transfermarkt scraping for live market data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846320" y="196596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47488" y="19202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dataset to 5,000+ players for better LSTM training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846320" y="246888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47488" y="24231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team performance context (league position, form)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846320" y="297180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47488" y="2926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integration for further R² improvement (target 0.65+)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4846320" y="347472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47488" y="3429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injury prediction sub-model for better risk scoring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4846320" y="3977640"/>
            <a:ext cx="109728" cy="109728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47488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cloud (Render/Railway) for public access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502920"/>
            <a:ext cx="6400800" cy="4251960"/>
          </a:xfrm>
          <a:prstGeom prst="rect">
            <a:avLst/>
          </a:prstGeom>
          <a:solidFill>
            <a:srgbClr val="0D1520"/>
          </a:solidFill>
          <a:ln w="6350">
            <a:solidFill>
              <a:srgbClr val="1E4A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TransferIQ — AI Player Transfer Value Prediction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2423160"/>
            <a:ext cx="2743200" cy="18288"/>
          </a:xfrm>
          <a:prstGeom prst="rect">
            <a:avLst/>
          </a:prstGeom>
          <a:solidFill>
            <a:srgbClr val="1E4A8A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1,034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756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B42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0.495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5508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R²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with: Python · NumPy · Scikit-learn · Flask · PptxGenJS · Matplotlib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TransferIQ — AI Player Transfer Value Prediction</dc:title>
  <dc:subject>PptxGenJS Presentation</dc:subject>
  <dc:creator>PptxGenJS</dc:creator>
  <cp:lastModifiedBy>PptxGenJS</cp:lastModifiedBy>
  <cp:revision>1</cp:revision>
  <dcterms:created xsi:type="dcterms:W3CDTF">2026-03-26T16:28:31Z</dcterms:created>
  <dcterms:modified xsi:type="dcterms:W3CDTF">2026-03-26T16:28:31Z</dcterms:modified>
</cp:coreProperties>
</file>